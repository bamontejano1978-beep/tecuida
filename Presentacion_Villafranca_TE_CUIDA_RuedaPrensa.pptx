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42C19"/>
                </a:solidFill>
                <a:latin typeface="Calibri"/>
              </a:defRPr>
            </a:pPr>
            <a:r>
              <a:t>RUEDA DE PRENSA  ·  MEDIOS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C8D8C9"/>
                </a:solidFill>
                <a:latin typeface="Calibri"/>
              </a:defRPr>
            </a:pPr>
            <a:r>
              <a:t>AYUNTAMIENTO DE VILLAFRANCA DE LOS BARROS  ·  TE CUIDA  ·  BADAJOZ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defRPr sz="4600" b="1">
                <a:solidFill>
                  <a:srgbClr val="FFFFFF"/>
                </a:solidFill>
                <a:latin typeface="Calibri"/>
              </a:defRPr>
            </a:pPr>
            <a:r>
              <a:t>Villafranca</a:t>
            </a:r>
            <a:br/>
            <a:r>
              <a:t>te cuida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7132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4AA45"/>
                </a:solidFill>
                <a:latin typeface="Calibri"/>
              </a:defRPr>
            </a:pPr>
            <a:r>
              <a:t>La red municipal de bienestar llega a Villafranca de los Barros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6766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8F0E9"/>
                </a:solidFill>
                <a:latin typeface="Calibri"/>
              </a:defRPr>
            </a:pPr>
            <a:r>
              <a:t>Una plataforma gratuita, cercana y segura para toda la ciudadanía.</a:t>
            </a:r>
            <a:br/>
            <a:r>
              <a:t>Programas, actividades locales y acompañamiento — en un solo lugar.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8633E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4340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2C19"/>
                </a:solidFill>
                <a:latin typeface="Calibri"/>
              </a:defRPr>
            </a:pPr>
            <a:r>
              <a:t>Mañana  ·  Villafranca de los Barros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  <a:r>
              <a:t>villafranca-de-los-barros.tecuida.group  ·  Acceso libre y gratuito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640080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00" b="0">
                <a:solidFill>
                  <a:srgbClr val="9AAA9E"/>
                </a:solidFill>
                <a:latin typeface="Calibri"/>
              </a:defRPr>
            </a:pPr>
            <a:r>
              <a:t>Foto: kallerna, CC BY-SA 4.0, vía Wikimedia Commons · Vista aérea de Villafranca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6692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villafranca-de-los-barros.tecuida.group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01  ·  QUÉ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 CUIDA: bienestar municipal, en tu municipio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611880" cy="1143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17320"/>
            <a:ext cx="3611880" cy="114300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1965960"/>
            <a:ext cx="658368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075688"/>
            <a:ext cx="6583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38633E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42C19"/>
                </a:solidFill>
                <a:latin typeface="Calibri"/>
              </a:defRPr>
            </a:pPr>
            <a:r>
              <a:t>Municipal y cercano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632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64705E"/>
                </a:solidFill>
                <a:latin typeface="Calibri"/>
              </a:defRPr>
            </a:pPr>
            <a:r>
              <a:t>Cada ayuntamiento tiene su propio espacio. Datos aislados por municipio, identidad local y control público.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6118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3611880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34840" y="1417320"/>
            <a:ext cx="3611880" cy="114300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16168" y="1965960"/>
            <a:ext cx="658368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2075688"/>
            <a:ext cx="6583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38633E"/>
                </a:solidFill>
                <a:latin typeface="Calibri"/>
              </a:defRPr>
            </a:pPr>
            <a:r>
              <a:t>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8892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42C19"/>
                </a:solidFill>
                <a:latin typeface="Calibri"/>
              </a:defRPr>
            </a:pPr>
            <a:r>
              <a:t>Bienestar para todos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154680"/>
            <a:ext cx="30632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64705E"/>
                </a:solidFill>
                <a:latin typeface="Calibri"/>
              </a:defRPr>
            </a:pPr>
            <a:r>
              <a:t>Salud emocional, hábitos y comunidad. Gratuitos, sin publicidad, 365 días al año.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417320"/>
            <a:ext cx="36118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17320"/>
            <a:ext cx="3611880" cy="1143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321040" y="1417320"/>
            <a:ext cx="3611880" cy="114300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02368" y="1965960"/>
            <a:ext cx="658368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8" y="2075688"/>
            <a:ext cx="6583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38633E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78892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42C19"/>
                </a:solidFill>
                <a:latin typeface="Calibri"/>
              </a:defRPr>
            </a:pPr>
            <a:r>
              <a:t>Seguro y privado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154680"/>
            <a:ext cx="30632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64705E"/>
                </a:solidFill>
                <a:latin typeface="Calibri"/>
              </a:defRPr>
            </a:pPr>
            <a:r>
              <a:t>Mínimos datos, alias opcional, RGPD real. RLS y aforo controlado en base de datos.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57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8633E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280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días de</a:t>
            </a:r>
            <a:br/>
            <a:r>
              <a:t>programas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5349240"/>
            <a:ext cx="12700" cy="5486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257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8633E"/>
                </a:solidFill>
                <a:latin typeface="Calibri"/>
              </a:defRPr>
            </a:pPr>
            <a:r>
              <a:t>365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623560"/>
            <a:ext cx="1280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días al</a:t>
            </a:r>
            <a:br/>
            <a:r>
              <a:t>año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5349240"/>
            <a:ext cx="12700" cy="5486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257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8633E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23560"/>
            <a:ext cx="1280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para toda la</a:t>
            </a:r>
            <a:br/>
            <a:r>
              <a:t>vecindad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5349240"/>
            <a:ext cx="12700" cy="5486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52578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8633E"/>
                </a:solidFill>
                <a:latin typeface="Calibri"/>
              </a:defRPr>
            </a:pPr>
            <a:r>
              <a:t>Multitenant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623560"/>
            <a:ext cx="1280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cada municipio</a:t>
            </a:r>
            <a:br/>
            <a:r>
              <a:t>sus datos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02  ·  UNA RED QUE CRECE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Villafranca se suma a una red de municipios que ya cuidan</a:t>
            </a:r>
          </a:p>
        </p:txBody>
      </p:sp>
      <p:pic>
        <p:nvPicPr>
          <p:cNvPr id="5" name="Picture 4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57784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526280"/>
            <a:ext cx="5577840" cy="32004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608576"/>
            <a:ext cx="5303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Villafranca de los Barros — vista aérea  ·  13 000 habitantes  ·  Tierra de Barros, Badajoz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5577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42C19"/>
                </a:solidFill>
                <a:latin typeface="Calibri"/>
              </a:defRPr>
            </a:pPr>
            <a:r>
              <a:t>No es una app externa. Es vuestra plataforma municipal, con identidad y control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633E"/>
                </a:solidFill>
                <a:latin typeface="Calibri"/>
              </a:defRPr>
            </a:pPr>
            <a:r>
              <a:t>Red TE CUIDA — Extremadura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83080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Calamonte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783080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83080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Mérida · Almendralejo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167128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67128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Zafra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67128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142C19"/>
          </a:solidFill>
          <a:ln w="12700">
            <a:solidFill>
              <a:srgbClr val="38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67128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Villafranca 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551176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551176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Fuente del Maestre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551176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51176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Llerena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935224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935224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Los Santos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935224"/>
            <a:ext cx="233172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935224"/>
            <a:ext cx="2331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142C19"/>
                </a:solidFill>
                <a:latin typeface="Calibri"/>
              </a:defRPr>
            </a:pPr>
            <a:r>
              <a:t>Aceuchal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520440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639312"/>
            <a:ext cx="4709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38633E"/>
                </a:solidFill>
                <a:latin typeface="Calibri"/>
              </a:defRPr>
            </a:pPr>
            <a:r>
              <a:t>→  villafranca-de-los-barros.tecuida.group   ·   Layout editorial propio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2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Subdominio propio — identidad local, no genérica.</a:t>
            </a: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El Ayuntamiento decide qué se publica. Nada sale sin aprobación.</a:t>
            </a: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Datos aislados por RLS: lo de Villafranca se queda en Villafranca.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03  ·  VUESTRA CASA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Así se ve Villafranca en TE CUIDA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949440" cy="320040"/>
          </a:xfrm>
          <a:prstGeom prst="roundRect">
            <a:avLst>
              <a:gd name="adj" fmla="val 8000"/>
            </a:avLst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3200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50" b="1">
                <a:solidFill>
                  <a:srgbClr val="FFFFFF"/>
                </a:solidFill>
                <a:latin typeface="Calibri"/>
              </a:defRPr>
            </a:pPr>
            <a:r>
              <a:t>Ayuntamiento de Villafranca de los Barros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600" b="0">
                <a:solidFill>
                  <a:srgbClr val="C8D8C9"/>
                </a:solidFill>
                <a:latin typeface="Calibri"/>
              </a:defRPr>
            </a:pPr>
            <a:r>
              <a:t>Inicio  Programas  Catálogo</a:t>
            </a:r>
          </a:p>
        </p:txBody>
      </p:sp>
      <p:pic>
        <p:nvPicPr>
          <p:cNvPr id="10" name="Picture 9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0512"/>
            <a:ext cx="6675120" cy="1234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1810512"/>
            <a:ext cx="6675120" cy="123444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Villafranca de los Barros te cuida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D8E8D9"/>
                </a:solidFill>
                <a:latin typeface="Calibri"/>
              </a:defRPr>
            </a:pPr>
            <a:r>
              <a:t>Bienestar emocional, comunidad y vida local.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377440"/>
            <a:ext cx="1737360" cy="274320"/>
          </a:xfrm>
          <a:prstGeom prst="roundRect">
            <a:avLst>
              <a:gd name="adj" fmla="val 8000"/>
            </a:avLst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42C19"/>
                </a:solidFill>
                <a:latin typeface="Calibri"/>
              </a:defRPr>
            </a:pPr>
            <a:r>
              <a:t>Área ciudadana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73552"/>
            <a:ext cx="157276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633E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157276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Programas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2004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273552"/>
            <a:ext cx="157276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633E"/>
                </a:solidFill>
                <a:latin typeface="Calibri"/>
              </a:defRPr>
            </a:pPr>
            <a:r>
              <a:t>Abierto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20440"/>
            <a:ext cx="157276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Toda la ciudadanía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2004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3273552"/>
            <a:ext cx="157276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633E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520440"/>
            <a:ext cx="157276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Vecinos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200400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3273552"/>
            <a:ext cx="1572768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8633E"/>
                </a:solidFill>
                <a:latin typeface="Calibri"/>
              </a:defRPr>
            </a:pPr>
            <a:r>
              <a:t>365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20440"/>
            <a:ext cx="157276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Días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50208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indful30-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69080"/>
            <a:ext cx="749808" cy="7498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4864608"/>
            <a:ext cx="184708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142C19"/>
                </a:solidFill>
                <a:latin typeface="Calibri"/>
              </a:defRPr>
            </a:pPr>
            <a:r>
              <a:t>Mindful30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47488"/>
            <a:ext cx="1847088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Programa · Gratuito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53512" y="3950208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indful30-caregivers-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4069080"/>
            <a:ext cx="749808" cy="7498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090672" y="4864608"/>
            <a:ext cx="184708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142C19"/>
                </a:solidFill>
                <a:latin typeface="Calibri"/>
              </a:defRPr>
            </a:pPr>
            <a:r>
              <a:t>Mindful30 Cuidadores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5047488"/>
            <a:ext cx="1847088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Programa · Gratuito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21224" y="3950208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indful30-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4069080"/>
            <a:ext cx="749808" cy="7498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58384" y="4864608"/>
            <a:ext cx="184708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142C19"/>
                </a:solidFill>
                <a:latin typeface="Calibri"/>
              </a:defRPr>
            </a:pPr>
            <a:r>
              <a:t>Reto30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8384" y="5047488"/>
            <a:ext cx="1847088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>
                <a:solidFill>
                  <a:srgbClr val="64705E"/>
                </a:solidFill>
                <a:latin typeface="Calibri"/>
              </a:defRPr>
            </a:pPr>
            <a:r>
              <a:t>Programa · Gratuito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14173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42C19"/>
                </a:solidFill>
                <a:latin typeface="Calibri"/>
              </a:defRPr>
            </a:pPr>
            <a:r>
              <a:t>Qué ve el vecino al entrar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1783080"/>
            <a:ext cx="38404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Cabecera con escudo y colores de Villafranca, hero local y bienvenida institucional.</a:t>
            </a: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Cuatro indicadores claros: programas activos, acceso abierto, gratuito, disponible todo el año.</a:t>
            </a:r>
          </a:p>
          <a:p>
            <a:pPr algn="l">
              <a:spcAft>
                <a:spcPts val="400"/>
              </a:spcAft>
              <a:defRPr sz="800" b="0" i="0">
                <a:solidFill>
                  <a:srgbClr val="64705E"/>
                </a:solidFill>
                <a:latin typeface="Calibri"/>
              </a:defRPr>
            </a:pPr>
            <a:r>
              <a:t>•  Catálogo por categorías + marketplace de actividades presenciales.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70332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3822191"/>
            <a:ext cx="3474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142C19"/>
                </a:solidFill>
                <a:latin typeface="Calibri"/>
              </a:defRPr>
            </a:pPr>
            <a:r>
              <a:t>🔗  URL oficial y única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0416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villafranca-de-los-barros.tecuida.group</a:t>
            </a:r>
            <a:br/>
            <a:r>
              <a:t>Subdominio propio · Sin app que instalar</a:t>
            </a:r>
          </a:p>
        </p:txBody>
      </p:sp>
      <p:pic>
        <p:nvPicPr>
          <p:cNvPr id="44" name="Picture 43" descr="_chart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709160"/>
            <a:ext cx="3840480" cy="10515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04  ·  PARA LA CIUDADANÍA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 2 minutos, dentro — sin papeleo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61188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17320"/>
            <a:ext cx="3611880" cy="8229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42C1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27632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74519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E4AA45"/>
                </a:solidFill>
                <a:latin typeface="Calibri"/>
              </a:defRPr>
            </a:pPr>
            <a:r>
              <a:t>🔗  villafranca-de-los-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3154680" cy="548640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38633E"/>
                </a:solidFill>
                <a:latin typeface="Calibri"/>
              </a:defRPr>
            </a:pPr>
            <a:r>
              <a:t>villafranca-de-los-</a:t>
            </a:r>
            <a:br/>
            <a:r>
              <a:t>barros.tecuida.group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Pulsa “Área ciudadana”.</a:t>
            </a:r>
            <a:br/>
            <a:r>
              <a:t>Vale desde el móvil,</a:t>
            </a:r>
            <a:br/>
            <a:r>
              <a:t>sin instalar nada.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697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4AA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4173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3611880" cy="822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34840" y="1417320"/>
            <a:ext cx="3611880" cy="8229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6916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42C1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627632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Regístrate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874519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E4AA45"/>
                </a:solidFill>
                <a:latin typeface="Calibri"/>
              </a:defRPr>
            </a:pPr>
            <a:r>
              <a:t>✍️  Email + contraseña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423160"/>
            <a:ext cx="3154680" cy="548640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487168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38633E"/>
                </a:solidFill>
                <a:latin typeface="Calibri"/>
              </a:defRPr>
            </a:pPr>
            <a:r>
              <a:t>Email + contraseña</a:t>
            </a:r>
            <a:br/>
            <a:r>
              <a:t>(+ código si se pide)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1089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Pseudónimo opcional.</a:t>
            </a:r>
            <a:br/>
            <a:r>
              <a:t>Datos mínimos.</a:t>
            </a:r>
            <a:br/>
            <a:r>
              <a:t>Confirmas el correo.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697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4AA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14173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17320"/>
            <a:ext cx="3611880" cy="8229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321040" y="1417320"/>
            <a:ext cx="3611880" cy="8229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49640" y="16002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916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42C1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627632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Participa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19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E4AA45"/>
                </a:solidFill>
                <a:latin typeface="Calibri"/>
              </a:defRPr>
            </a:pPr>
            <a:r>
              <a:t>▶️  Elige programa 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2423160"/>
            <a:ext cx="3154680" cy="548640"/>
          </a:xfrm>
          <a:prstGeom prst="roundRect">
            <a:avLst>
              <a:gd name="adj" fmla="val 8000"/>
            </a:avLst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487168"/>
            <a:ext cx="3154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38633E"/>
                </a:solidFill>
                <a:latin typeface="Calibri"/>
              </a:defRPr>
            </a:pPr>
            <a:r>
              <a:t>Elige programa o</a:t>
            </a:r>
            <a:br/>
            <a:r>
              <a:t>actividad 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1089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Mindful30, talleres…</a:t>
            </a:r>
            <a:br/>
            <a:r>
              <a:t>Tu progreso, siempre</a:t>
            </a:r>
            <a:br/>
            <a:r>
              <a:t>a mano.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64608"/>
            <a:ext cx="5303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🔒  Códigos de acceso (si el Ayuntamiento los activa)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02352"/>
            <a:ext cx="5303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Lotes de un solo uso, CSV. En BD se guarda HMAC-SHA256,</a:t>
            </a:r>
            <a:br/>
            <a:r>
              <a:t>nunca el código en claro.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864608"/>
            <a:ext cx="12700" cy="9144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864608"/>
            <a:ext cx="4937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🛡️  RGPD desde el diseño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02352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Solo email y contraseña obligatorios.</a:t>
            </a:r>
            <a:br/>
            <a:r>
              <a:t>Alias opcional. Borra cuenta y datos en un clic.</a:t>
            </a:r>
          </a:p>
        </p:txBody>
      </p:sp>
      <p:pic>
        <p:nvPicPr>
          <p:cNvPr id="43" name="Picture 42" descr="qr_villafr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864608"/>
            <a:ext cx="777240" cy="77724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05  ·  PROGRAMAS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Qué va a encontrar Villafranca desde el primer día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974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PROGRAMA</a:t>
            </a:r>
          </a:p>
        </p:txBody>
      </p:sp>
      <p:pic>
        <p:nvPicPr>
          <p:cNvPr id="8" name="Picture 7" descr="mindful30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74519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1546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Mindful30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30 días de bienestar diario. Prácticas breves para mente, cuerpo y relaciones.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2331720" cy="29260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38633E"/>
                </a:solidFill>
                <a:latin typeface="Calibri"/>
              </a:defRPr>
            </a:pPr>
            <a:r>
              <a:t>Toda la ciudadanía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417320"/>
            <a:ext cx="26974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417320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630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PROGRAMA</a:t>
            </a:r>
          </a:p>
        </p:txBody>
      </p:sp>
      <p:pic>
        <p:nvPicPr>
          <p:cNvPr id="16" name="Picture 15" descr="mindful30-caregivers-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874519"/>
            <a:ext cx="1143000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9312" y="31546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Mindful30</a:t>
            </a:r>
            <a:br/>
            <a:r>
              <a:t>Cuidadores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Acompañamiento para quienes cuidan. Herramientas breves y comunidad.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4343400"/>
            <a:ext cx="2331720" cy="29260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438912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38633E"/>
                </a:solidFill>
                <a:latin typeface="Calibri"/>
              </a:defRPr>
            </a:pPr>
            <a:r>
              <a:t>Cuidadores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417320"/>
            <a:ext cx="26974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4224" y="1417320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630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PROGRAMA</a:t>
            </a:r>
          </a:p>
        </p:txBody>
      </p:sp>
      <p:pic>
        <p:nvPicPr>
          <p:cNvPr id="24" name="Picture 23" descr="mindful30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1874519"/>
            <a:ext cx="1143000" cy="1143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47104" y="31546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Reto30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Hábitos saludables en 30 días. Reto gamificado con progreso.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47104" y="4343400"/>
            <a:ext cx="2331720" cy="29260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38912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38633E"/>
                </a:solidFill>
                <a:latin typeface="Calibri"/>
              </a:defRPr>
            </a:pPr>
            <a:r>
              <a:t>Jóvenes y adultos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72016" y="1417320"/>
            <a:ext cx="26974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72016" y="1417320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14630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HERRAMIENTA</a:t>
            </a:r>
          </a:p>
        </p:txBody>
      </p:sp>
      <p:pic>
        <p:nvPicPr>
          <p:cNvPr id="32" name="Picture 31" descr="mindful30-infancia-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1874519"/>
            <a:ext cx="1143000" cy="1143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54896" y="31546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Familia · Infancia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Recursos para familias. El Ayuntamiento amplía el catálogo sin obra.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54896" y="4343400"/>
            <a:ext cx="2331720" cy="29260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6" y="438912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50" b="1">
                <a:solidFill>
                  <a:srgbClr val="38633E"/>
                </a:solidFill>
                <a:latin typeface="Calibri"/>
              </a:defRPr>
            </a:pPr>
            <a:r>
              <a:t>Familias</a:t>
            </a:r>
          </a:p>
        </p:txBody>
      </p:sp>
      <p:pic>
        <p:nvPicPr>
          <p:cNvPr id="37" name="Picture 36" descr="_chart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00600"/>
            <a:ext cx="11091672" cy="13258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06  ·  ACTIVIDADES DEL MUNICIPIO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Del cartel en la plaza a la inscripción en un clic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126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51560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1600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142C19"/>
                </a:solidFill>
                <a:latin typeface="Calibri"/>
              </a:defRPr>
            </a:pPr>
            <a:r>
              <a:t>Taller gestión emocional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47088"/>
            <a:ext cx="3657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Presencial · 12 plazas · Gratuito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121408"/>
            <a:ext cx="2743200" cy="88900"/>
          </a:xfrm>
          <a:prstGeom prst="roundRect">
            <a:avLst>
              <a:gd name="adj" fmla="val 8000"/>
            </a:avLst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20240" y="2121408"/>
            <a:ext cx="1700784" cy="88900"/>
          </a:xfrm>
          <a:prstGeom prst="roundRect">
            <a:avLst>
              <a:gd name="adj" fmla="val 8000"/>
            </a:avLst>
          </a:prstGeom>
          <a:solidFill>
            <a:srgbClr val="3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777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05E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04288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38633E"/>
                </a:solidFill>
                <a:latin typeface="Calibri"/>
              </a:defRPr>
            </a:pPr>
            <a:r>
              <a:t>Ocupación 62%  ·  Inscripción vía RPC con control de aforo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61488"/>
            <a:ext cx="6126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8648"/>
            <a:ext cx="1051560" cy="8412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2898648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142C19"/>
                </a:solidFill>
                <a:latin typeface="Calibri"/>
              </a:defRPr>
            </a:pPr>
            <a:r>
              <a:t>Yoga en familia — Parque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45536"/>
            <a:ext cx="3657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Mixta · Destacada · Próxima semana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419856"/>
            <a:ext cx="2743200" cy="88900"/>
          </a:xfrm>
          <a:prstGeom prst="roundRect">
            <a:avLst>
              <a:gd name="adj" fmla="val 8000"/>
            </a:avLst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20240" y="3419856"/>
            <a:ext cx="1234440" cy="88900"/>
          </a:xfrm>
          <a:prstGeom prst="roundRect">
            <a:avLst>
              <a:gd name="adj" fmla="val 8000"/>
            </a:avLst>
          </a:prstGeom>
          <a:solidFill>
            <a:srgbClr val="3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401568"/>
            <a:ext cx="777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05E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02736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38633E"/>
                </a:solidFill>
                <a:latin typeface="Calibri"/>
              </a:defRPr>
            </a:pPr>
            <a:r>
              <a:t>Ocupación 45%  ·  Inscripción vía RPC con control de aforo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5"/>
            <a:ext cx="61264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_hero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97095"/>
            <a:ext cx="1051560" cy="8412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20240" y="4197095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1">
                <a:solidFill>
                  <a:srgbClr val="142C19"/>
                </a:solidFill>
                <a:latin typeface="Calibri"/>
              </a:defRPr>
            </a:pPr>
            <a:r>
              <a:t>Charla: pantallas y adolescentes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43983"/>
            <a:ext cx="36576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Online · Aforo 50 · Abierta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718303"/>
            <a:ext cx="2743200" cy="88900"/>
          </a:xfrm>
          <a:prstGeom prst="roundRect">
            <a:avLst>
              <a:gd name="adj" fmla="val 8000"/>
            </a:avLst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920240" y="4718303"/>
            <a:ext cx="2249424" cy="88900"/>
          </a:xfrm>
          <a:prstGeom prst="roundRect">
            <a:avLst>
              <a:gd name="adj" fmla="val 8000"/>
            </a:avLst>
          </a:prstGeom>
          <a:solidFill>
            <a:srgbClr val="3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700015"/>
            <a:ext cx="7772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05E"/>
                </a:solidFill>
                <a:latin typeface="Calibri"/>
              </a:defRPr>
            </a:pPr>
            <a:r>
              <a:t>41/50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901183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" b="0">
                <a:solidFill>
                  <a:srgbClr val="38633E"/>
                </a:solidFill>
                <a:latin typeface="Calibri"/>
              </a:defRPr>
            </a:pPr>
            <a:r>
              <a:t>Ocupación 82%  ·  Inscripción vía RPC con control de aforo</a:t>
            </a:r>
          </a:p>
        </p:txBody>
      </p:sp>
      <p:pic>
        <p:nvPicPr>
          <p:cNvPr id="29" name="Picture 28" descr="_chart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17320"/>
            <a:ext cx="2377440" cy="2377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92640" y="150876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</a:p>
          <a:p>
            <a:pPr algn="l">
              <a:spcAft>
                <a:spcPts val="500"/>
              </a:spcAft>
              <a:defRPr sz="750" b="0" i="0">
                <a:solidFill>
                  <a:srgbClr val="64705E"/>
                </a:solidFill>
                <a:latin typeface="Calibri"/>
              </a:defRPr>
            </a:pPr>
            <a:r>
              <a:t>•  El Ayuntamiento publica fecha, aforo y modalidad.</a:t>
            </a:r>
          </a:p>
          <a:p>
            <a:pPr algn="l">
              <a:spcAft>
                <a:spcPts val="500"/>
              </a:spcAft>
              <a:defRPr sz="750" b="0" i="0">
                <a:solidFill>
                  <a:srgbClr val="64705E"/>
                </a:solidFill>
                <a:latin typeface="Calibri"/>
              </a:defRPr>
            </a:pPr>
            <a:r>
              <a:t>•  El vecino se inscribe desde su área — el sistema valida aforo por RPC.</a:t>
            </a:r>
          </a:p>
          <a:p>
            <a:pPr algn="l">
              <a:spcAft>
                <a:spcPts val="500"/>
              </a:spcAft>
              <a:defRPr sz="750" b="0" i="0">
                <a:solidFill>
                  <a:srgbClr val="64705E"/>
                </a:solidFill>
                <a:latin typeface="Calibri"/>
              </a:defRPr>
            </a:pPr>
            <a:r>
              <a:t>•  Lista de espera automática si se completa. Cancelación sencilla.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3977639"/>
            <a:ext cx="4617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133087"/>
            <a:ext cx="4206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🔐  Reglas que no se pueden saltar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389120"/>
            <a:ext cx="4206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</a:p>
          <a:p>
            <a:pPr algn="l">
              <a:defRPr sz="750" b="0" i="0">
                <a:solidFill>
                  <a:srgbClr val="64705E"/>
                </a:solidFill>
                <a:latin typeface="Calibri"/>
              </a:defRPr>
            </a:pPr>
            <a:r>
              <a:t>Inscripciones solo vía RPC con control de aforo, concurrencia y RLS por municipio. Sin escrituras directas.</a:t>
            </a:r>
          </a:p>
          <a:p>
            <a:pPr algn="l">
              <a:defRPr sz="750" b="1" i="0">
                <a:solidFill>
                  <a:srgbClr val="38633E"/>
                </a:solidFill>
                <a:latin typeface="Calibri"/>
              </a:defRPr>
            </a:pPr>
            <a:r>
              <a:t>Si no hay plaza, no hay inscripción. Punto.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07  ·  PARA EL AYUNTAMIENTO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Gestión sin tecnicismos. Datos sin fisgonear.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50800"/>
          </a:xfrm>
          <a:prstGeom prst="rect">
            <a:avLst/>
          </a:prstGeom>
          <a:solidFill>
            <a:srgbClr val="38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8633E"/>
                </a:solidFill>
                <a:latin typeface="Calibri"/>
              </a:defRPr>
            </a:pPr>
            <a: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5448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Vecinos</a:t>
            </a:r>
            <a:br/>
            <a:r>
              <a:t>registrados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17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417320"/>
            <a:ext cx="2697480" cy="5080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53619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42C1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55448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Actividades</a:t>
            </a:r>
            <a:br/>
            <a:r>
              <a:t>publicadas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417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417320"/>
            <a:ext cx="2697480" cy="508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53619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4AA45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155448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Ocupación</a:t>
            </a:r>
            <a:br/>
            <a:r>
              <a:t>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4173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2016" y="1417320"/>
            <a:ext cx="2697480" cy="50800"/>
          </a:xfrm>
          <a:prstGeom prst="rect">
            <a:avLst/>
          </a:prstGeom>
          <a:solidFill>
            <a:srgbClr val="1E3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153619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3A22"/>
                </a:solidFill>
                <a:latin typeface="Calibri"/>
              </a:defRPr>
            </a:pPr>
            <a:r>
              <a:t>4.8/5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43616" y="1554480"/>
            <a:ext cx="1143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Satisfacción</a:t>
            </a:r>
          </a:p>
        </p:txBody>
      </p:sp>
      <p:pic>
        <p:nvPicPr>
          <p:cNvPr id="21" name="Picture 20" descr="_chart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6766560" cy="18745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543800" y="2514600"/>
            <a:ext cx="40690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715768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8633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62432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Cuadro de mando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84378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Estadísticas agregadas por RPC. Cifras, no nombres.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474720"/>
            <a:ext cx="40690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675888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8633E"/>
                </a:solidFill>
                <a:latin typeface="Calibri"/>
              </a:defRPr>
            </a:pPr>
            <a:r>
              <a:t>🎟️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58444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Códigos y accesos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80390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Lotes, CSV, consumo y on/off del registro restringido.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434840"/>
            <a:ext cx="40690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4636008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8633E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54456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Catálogo y landing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76402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Textos, colores, escudo, hero y orden. Vista previa.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394960"/>
            <a:ext cx="40690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5596128"/>
            <a:ext cx="411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8633E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50468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50" b="1">
                <a:solidFill>
                  <a:srgbClr val="142C19"/>
                </a:solidFill>
                <a:latin typeface="Calibri"/>
              </a:defRPr>
            </a:pPr>
            <a:r>
              <a:t>Gestores locales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724144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05E"/>
                </a:solidFill>
                <a:latin typeface="Calibri"/>
              </a:defRPr>
            </a:pPr>
            <a:r>
              <a:t>Invita por enlace seguro. Rol admin_municipio.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09160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64608"/>
            <a:ext cx="10972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1">
                <a:solidFill>
                  <a:srgbClr val="38633E"/>
                </a:solidFill>
                <a:latin typeface="Calibri"/>
              </a:defRPr>
            </a:pPr>
            <a:r>
              <a:t>Operación diaria: el personal no toca código. Todo es interfaz web con permisos por rol.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08  ·  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Privacidad por diseño, no por promesa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Mínimos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063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Email + contraseña.</a:t>
            </a:r>
            <a:br/>
            <a:r>
              <a:t>Alias opcional.</a:t>
            </a:r>
            <a:br/>
            <a:r>
              <a:t>Género/año opcionales.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572768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Tú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874519"/>
            <a:ext cx="3063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Pseudónimo visible.</a:t>
            </a:r>
            <a:br/>
            <a:r>
              <a:t>Borra cuenta y datos</a:t>
            </a:r>
            <a:br/>
            <a:r>
              <a:t>cuando quieras.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572768"/>
            <a:ext cx="3063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42C19"/>
                </a:solidFill>
                <a:latin typeface="Calibri"/>
              </a:defRPr>
            </a:pPr>
            <a:r>
              <a:t>Aislamiento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19"/>
            <a:ext cx="3063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05E"/>
                </a:solidFill>
                <a:latin typeface="Calibri"/>
              </a:defRPr>
            </a:pPr>
            <a:r>
              <a:t>RLS por municipio.</a:t>
            </a:r>
            <a:br/>
            <a:r>
              <a:t>Service_role solo en</a:t>
            </a:r>
            <a:br/>
            <a:r>
              <a:t>servidor.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9167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6118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7F1E7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42C19"/>
                </a:solidFill>
                <a:latin typeface="Calibri"/>
              </a:defRPr>
            </a:pPr>
            <a:r>
              <a:t>Código</a:t>
            </a:r>
            <a:br/>
            <a:r>
              <a:t>VI-ABCD-1234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977639"/>
            <a:ext cx="411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4AA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22452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50" b="0">
                <a:solidFill>
                  <a:srgbClr val="64705E"/>
                </a:solidFill>
                <a:latin typeface="Calibri"/>
              </a:defRPr>
            </a:pPr>
            <a:r>
              <a:t>solo 1 vez</a:t>
            </a:r>
            <a:br/>
            <a:r>
              <a:t>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6118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38633E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947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HMAC-SHA256</a:t>
            </a:r>
            <a:br/>
            <a:r>
              <a:t>+ PEPPER ≥32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77639"/>
            <a:ext cx="411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4AA4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22452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50" b="0">
                <a:solidFill>
                  <a:srgbClr val="64705E"/>
                </a:solidFill>
                <a:latin typeface="Calibri"/>
              </a:defRPr>
            </a:pPr>
            <a:r>
              <a:t>solo 1 vez</a:t>
            </a:r>
            <a:br/>
            <a:r>
              <a:t>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118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2C19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7947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Hash en BD</a:t>
            </a:r>
            <a:br/>
            <a:r>
              <a:t>7f3a9c…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64705E"/>
                </a:solidFill>
                <a:latin typeface="Calibri"/>
              </a:defRPr>
            </a:pPr>
            <a:r>
              <a:t>El código completo solo se entrega una vez al generar el CSV. En BD nunca se guarda en claro.  ·  Analítica solo con consentimiento, validada con Zod y rate limit Redis.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09  ·  EMPIEZA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Villafranca ya está abierta. Así se entra.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_hero_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57600" cy="1234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463040"/>
            <a:ext cx="3657600" cy="123444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Villafranca de los Barros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E4AA45"/>
                </a:solidFill>
                <a:latin typeface="Calibri"/>
              </a:defRPr>
            </a:pPr>
            <a:r>
              <a:t>villafranca-de-los-barros.tecuida.group</a:t>
            </a:r>
          </a:p>
        </p:txBody>
      </p:sp>
      <p:pic>
        <p:nvPicPr>
          <p:cNvPr id="12" name="Picture 11" descr="qr_villafran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880360"/>
            <a:ext cx="2286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98348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38633E"/>
                </a:solidFill>
                <a:latin typeface="Calibri"/>
              </a:defRPr>
            </a:pPr>
            <a:r>
              <a:t>Escanea con el móvil  ·  Sin instalar nada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554480"/>
            <a:ext cx="7040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810512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8633E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4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2C19"/>
                </a:solidFill>
                <a:latin typeface="Calibri"/>
              </a:defRPr>
            </a:pPr>
            <a:r>
              <a:t>Enlace directo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92024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38633E"/>
                </a:solidFill>
                <a:latin typeface="Calibri"/>
              </a:defRPr>
            </a:pPr>
            <a:r>
              <a:t>villafranca-de-los-barros.tecuida.group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10512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  <a:r>
              <a:t>WhatsApp, web municipal o bando.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788920"/>
            <a:ext cx="7040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44952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8633E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2C19"/>
                </a:solidFill>
                <a:latin typeface="Calibri"/>
              </a:defRPr>
            </a:pPr>
            <a:r>
              <a:t>Código 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15468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38633E"/>
                </a:solidFill>
                <a:latin typeface="Calibri"/>
              </a:defRPr>
            </a:pPr>
            <a:r>
              <a:t>En cartelería y folletos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44952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  <a:r>
              <a:t>Un escaneo y dentro. Ideal para centros cívicos.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023360"/>
            <a:ext cx="7040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279392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8633E"/>
                </a:solidFill>
                <a:latin typeface="Calibri"/>
              </a:defRPr>
            </a:pPr>
            <a:r>
              <a:t>🎟️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16052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2C19"/>
                </a:solidFill>
                <a:latin typeface="Calibri"/>
              </a:defRPr>
            </a:pPr>
            <a:r>
              <a:t>Código de acceso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389120"/>
            <a:ext cx="2926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38633E"/>
                </a:solidFill>
                <a:latin typeface="Calibri"/>
              </a:defRPr>
            </a:pPr>
            <a:r>
              <a:t>Si tu centro te ha dado uno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79392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4705E"/>
                </a:solidFill>
                <a:latin typeface="Calibri"/>
              </a:defRPr>
            </a:pPr>
            <a:r>
              <a:t>Un solo uso, personal. Te vincula a Villafranca.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440680"/>
            <a:ext cx="7040880" cy="502920"/>
          </a:xfrm>
          <a:prstGeom prst="roundRect">
            <a:avLst>
              <a:gd name="adj" fmla="val 8000"/>
            </a:avLst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5577840"/>
            <a:ext cx="6675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42C19"/>
                </a:solidFill>
                <a:latin typeface="Calibri"/>
              </a:defRPr>
            </a:pPr>
            <a:r>
              <a:t>📍  Punto de información esta semana en el Ayuntamiento  ·  Te ayudamos a registrarte allí mismo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 ·  #VillafrancaTeCuida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1">
                <a:solidFill>
                  <a:srgbClr val="E4AA45"/>
                </a:solidFill>
                <a:latin typeface="Calibri"/>
              </a:defRPr>
            </a:pPr>
            <a:r>
              <a:t>10  ·  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Compromiso público: qué pasa a partir de mañana</a:t>
            </a:r>
          </a:p>
        </p:txBody>
      </p:sp>
      <p:pic>
        <p:nvPicPr>
          <p:cNvPr id="5" name="Picture 4" descr="_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1672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60604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2331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38633E"/>
                </a:solidFill>
                <a:latin typeface="Calibri"/>
              </a:defRPr>
            </a:pPr>
            <a:r>
              <a:t>MAÑANA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42C19"/>
                </a:solidFill>
                <a:latin typeface="Calibri"/>
              </a:defRPr>
            </a:pPr>
            <a:r>
              <a:t>Apertura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Web en producción.</a:t>
            </a:r>
            <a:br/>
            <a:r>
              <a:t>Primeras altas</a:t>
            </a:r>
            <a:br/>
            <a:r>
              <a:t>y códigos operativos.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60604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761488"/>
            <a:ext cx="2331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64705E"/>
                </a:solidFill>
                <a:latin typeface="Calibri"/>
              </a:defRPr>
            </a:pPr>
            <a:r>
              <a:t>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97180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42C19"/>
                </a:solidFill>
                <a:latin typeface="Calibri"/>
              </a:defRPr>
            </a:pPr>
            <a:r>
              <a:t>Acompañamiento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918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Punto info presencial.</a:t>
            </a:r>
            <a:br/>
            <a:r>
              <a:t>Talleres bienvenida.</a:t>
            </a:r>
            <a:br/>
            <a:r>
              <a:t>Soporte entidades.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60604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761488"/>
            <a:ext cx="2331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64705E"/>
                </a:solidFill>
                <a:latin typeface="Calibri"/>
              </a:defRPr>
            </a:pPr>
            <a:r>
              <a:t>MES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7180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42C19"/>
                </a:solidFill>
                <a:latin typeface="Calibri"/>
              </a:defRPr>
            </a:pPr>
            <a:r>
              <a:t>Primeras actividades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2918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Marketplace con</a:t>
            </a:r>
            <a:br/>
            <a:r>
              <a:t>oferta inicial.</a:t>
            </a:r>
            <a:br/>
            <a:r>
              <a:t>Métricas agregadas.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260604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2761488"/>
            <a:ext cx="2331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64705E"/>
                </a:solidFill>
                <a:latin typeface="Calibri"/>
              </a:defRPr>
            </a:pPr>
            <a:r>
              <a:t>TRIMESTRE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97180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42C19"/>
                </a:solidFill>
                <a:latin typeface="Calibri"/>
              </a:defRPr>
            </a:pPr>
            <a:r>
              <a:t>Evaluación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329184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64705E"/>
                </a:solidFill>
                <a:latin typeface="Calibri"/>
              </a:defRPr>
            </a:pPr>
            <a:r>
              <a:t>Qué funciona, qué</a:t>
            </a:r>
            <a:br/>
            <a:r>
              <a:t>ampliar. Nuevas apps</a:t>
            </a:r>
            <a:br/>
            <a:r>
              <a:t>del catálogo.</a:t>
            </a:r>
          </a:p>
        </p:txBody>
      </p:sp>
      <p:pic>
        <p:nvPicPr>
          <p:cNvPr id="22" name="Picture 21" descr="_hero_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11091672" cy="10515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48640" y="4434840"/>
            <a:ext cx="11091672" cy="1051560"/>
          </a:xfrm>
          <a:prstGeom prst="rect">
            <a:avLst/>
          </a:prstGeom>
          <a:solidFill>
            <a:srgbClr val="14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“Villafranca no podía quedarse fuera. Esta es una inversión en salud, en comunidad y en futuro.”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E4AA45"/>
                </a:solidFill>
                <a:latin typeface="Calibri"/>
              </a:defRPr>
            </a:pPr>
            <a:r>
              <a:t>—  Ayuntamiento de Villafranca de los Barros  ·  (sustituir por declaración real si se facilita)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52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villafranca-de-los-barros.tecuida.group  ·  TE CUIDA — Red municipal de bienestar  ·  #VillafrancaTeCuida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Gracias.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E4AA45"/>
                </a:solidFill>
                <a:latin typeface="Calibri"/>
              </a:defRPr>
            </a:pPr>
            <a:r>
              <a:t>Villafranca de los Barros ya es parte de TE CUIDA.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D8E8D9"/>
                </a:solidFill>
                <a:latin typeface="Calibri"/>
              </a:defRPr>
            </a:pPr>
            <a:r>
              <a:t>Gracias a los medios por dar voz a un proyecto que es de todos.</a:t>
            </a:r>
            <a:br/>
            <a:r>
              <a:t>Vuestra difusión es la que lleva el bienestar a cada casa.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38633E"/>
                </a:solidFill>
                <a:latin typeface="Calibri"/>
              </a:defRPr>
            </a:pPr>
            <a:r>
              <a:t>Gabinete de prensa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42C19"/>
                </a:solidFill>
                <a:latin typeface="Calibri"/>
              </a:defRPr>
            </a:pPr>
            <a:r>
              <a:t>Ayuntamiento de Villafranca</a:t>
            </a:r>
            <a:br/>
            <a:r>
              <a:t>de los Barros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063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Plaza de España, 1</a:t>
            </a:r>
            <a:br/>
            <a:r>
              <a:t>06220 Villafranca (Badajoz)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38633E"/>
                </a:solidFill>
                <a:latin typeface="Calibri"/>
              </a:defRPr>
            </a:pPr>
            <a:r>
              <a:t>Contacto TE CUIDA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61488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42C19"/>
                </a:solidFill>
                <a:latin typeface="Calibri"/>
              </a:defRPr>
            </a:pPr>
            <a:r>
              <a:t>villafranca-de-los-barros</a:t>
            </a:r>
            <a:br/>
            <a:r>
              <a:t>.tecuida.group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291840"/>
            <a:ext cx="3063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Soporte y prensa:</a:t>
            </a:r>
            <a:br/>
            <a:r>
              <a:t>info@tecuida.group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514600"/>
            <a:ext cx="3063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38633E"/>
                </a:solidFill>
                <a:latin typeface="Calibri"/>
              </a:defRPr>
            </a:pPr>
            <a:r>
              <a:t>Recursos para medios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61488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42C19"/>
                </a:solidFill>
                <a:latin typeface="Calibri"/>
              </a:defRPr>
            </a:pPr>
            <a:r>
              <a:t>Dossier + fotos + logos</a:t>
            </a:r>
            <a:br/>
            <a:r>
              <a:t>Tras la rueda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91840"/>
            <a:ext cx="3063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50" b="0">
                <a:solidFill>
                  <a:srgbClr val="64705E"/>
                </a:solidFill>
                <a:latin typeface="Calibri"/>
              </a:defRPr>
            </a:pPr>
            <a:r>
              <a:t>QR y enlace en sala.</a:t>
            </a:r>
            <a:br/>
            <a:r>
              <a:t>#VillafrancaTeCuida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#VillafrancaTeCuida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11064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4AA45"/>
                </a:solidFill>
                <a:latin typeface="Calibri"/>
              </a:defRPr>
            </a:pPr>
            <a:r>
              <a:t>Turno de preguntas  ·  Estamos a vuestra disposición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88952" cy="25400"/>
          </a:xfrm>
          <a:prstGeom prst="rect">
            <a:avLst/>
          </a:prstGeom>
          <a:solidFill>
            <a:srgbClr val="E4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74536"/>
            <a:ext cx="1127455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50" b="0">
                <a:solidFill>
                  <a:srgbClr val="8A9A8E"/>
                </a:solidFill>
                <a:latin typeface="Calibri"/>
              </a:defRPr>
            </a:pPr>
            <a:r>
              <a:t>TE CUIDA  ·  Red municipal de bienestar  ·  villafranca-de-los-barros.tecuida.group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565392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FFFFFF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Villafranca de los Barros — TE CUIDA | Rueda de prensa</dc:title>
  <dc:subject/>
  <dc:creator>Ayuntamiento de Villafranca de los Barros · TE CUIDA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